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sldIdLst>
    <p:sldId id="2561" r:id="rId5"/>
    <p:sldId id="2563" r:id="rId6"/>
    <p:sldId id="2564" r:id="rId7"/>
    <p:sldId id="2566" r:id="rId8"/>
    <p:sldId id="2567" r:id="rId9"/>
    <p:sldId id="2568" r:id="rId10"/>
    <p:sldId id="2569" r:id="rId11"/>
    <p:sldId id="2570" r:id="rId12"/>
    <p:sldId id="2571" r:id="rId13"/>
    <p:sldId id="25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089077-6352-4958-A948-C2120AF11419}" v="14" dt="2026-02-03T05:36:52.379"/>
    <p1510:client id="{F37BFFAD-418A-BC99-B996-ABCB27613C36}" v="338" dt="2026-02-03T05:53:23.8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p:scale>
          <a:sx n="58" d="100"/>
          <a:sy n="58" d="100"/>
        </p:scale>
        <p:origin x="988" y="68"/>
      </p:cViewPr>
      <p:guideLst/>
    </p:cSldViewPr>
  </p:slideViewPr>
  <p:notesTextViewPr>
    <p:cViewPr>
      <p:scale>
        <a:sx n="3" d="2"/>
        <a:sy n="3" d="2"/>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B26B7C-52C3-4D40-83F9-EDB08D27A7E5}" type="datetimeFigureOut">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CE1A0-6FB0-4918-816F-312B57C54E97}" type="slidenum">
              <a:t>‹#›</a:t>
            </a:fld>
            <a:endParaRPr lang="en-US"/>
          </a:p>
        </p:txBody>
      </p:sp>
    </p:spTree>
    <p:extLst>
      <p:ext uri="{BB962C8B-B14F-4D97-AF65-F5344CB8AC3E}">
        <p14:creationId xmlns:p14="http://schemas.microsoft.com/office/powerpoint/2010/main" val="3070456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2A244C-F6A2-4D0A-A13B-1FB59927BCC3}" type="slidenum">
              <a:t>1</a:t>
            </a:fld>
            <a:endParaRPr lang="en-US"/>
          </a:p>
        </p:txBody>
      </p:sp>
    </p:spTree>
    <p:extLst>
      <p:ext uri="{BB962C8B-B14F-4D97-AF65-F5344CB8AC3E}">
        <p14:creationId xmlns:p14="http://schemas.microsoft.com/office/powerpoint/2010/main" val="3635557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the overarching purpose of the project using an ocean‑inspired narrative, framing the Titanic survival prediction problem as an exploration into which passengers managed to “swim with the fish” and which did not. The analysis is centered on supervised machine learning models, which operate much like different species navigating the same ocean ecosystem—each with distinct strengths, adaptations, and survival strategies. Much like how sea creatures rely on sensory cues, environmental conditions, and instinct to survive, machine learning models rely on patterns embedded in data to make predictions. The Titanic dataset is particularly suitable for this task because survival outcomes were influenced by observable characteristics such as gender, age, class, and family structure, all of which create detectable patterns for algorithms to learn. This slide explains that the primary objective of the study is to compare a diverse set of nine models—logistic regression, linear and nonlinear SVMs, Random Forests, Gradient Boosting, Bagging, and discriminant analysis variants—to evaluate which ones best capture the complex, nonlinear interactions present in Titanic survival data. The introduction emphasizes the historical context of the Titanic disaster, noting that survival was far from random, shaped by social norms and resource constraints, similar to how ocean ecosystems impose constraints that favor certain traits. By adopting a fish theme, the analysis becomes more engaging, drawing parallels between the struggle for survival in the deep sea and the competition among models navigating the turbulent waters of real‑world prediction tasks. Ultimately, the introduction highlights that this comparative study is not only about determining which model performs best but also about understanding what their performance reveals regarding patterns in the data and the tradeoffs between interpretability, flexibility, and robustness.</a:t>
            </a:r>
          </a:p>
        </p:txBody>
      </p:sp>
      <p:sp>
        <p:nvSpPr>
          <p:cNvPr id="4" name="Slide Number Placeholder 3"/>
          <p:cNvSpPr>
            <a:spLocks noGrp="1"/>
          </p:cNvSpPr>
          <p:nvPr>
            <p:ph type="sldNum" sz="quarter" idx="5"/>
          </p:nvPr>
        </p:nvSpPr>
        <p:spPr/>
        <p:txBody>
          <a:bodyPr/>
          <a:lstStyle/>
          <a:p>
            <a:fld id="{BF2A244C-F6A2-4D0A-A13B-1FB59927BCC3}" type="slidenum">
              <a:t>2</a:t>
            </a:fld>
            <a:endParaRPr lang="en-US"/>
          </a:p>
        </p:txBody>
      </p:sp>
    </p:spTree>
    <p:extLst>
      <p:ext uri="{BB962C8B-B14F-4D97-AF65-F5344CB8AC3E}">
        <p14:creationId xmlns:p14="http://schemas.microsoft.com/office/powerpoint/2010/main" val="694073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dives into the structure and characteristics of the Titanic dataset, viewing it as a vast ocean filled with diverse data points representing passengers, much like an ecosystem of sea creatures with varying traits, habitats, and behaviors. The dataset used in the study contains 891 observations and 26 variables, with 342 individuals surviving and 549 not—an imbalance that can influence how different models learn patterns. These variables include demographic attributes such as age and sex, socioeconomic indicators like passenger class and ticket information, and family‑related variables capturing companionship during the voyage. The preprocessing of the data involved determining which features were meaningful for prediction and which were excess driftwood cluttering the ocean floor. Columns such as PassengerId, Name, Ticket, and Cabin were removed due to high missingness or limited predictive value. Missing values for Age and Embarked were imputed using the median and mode respectively—analogous to restoring coral in damaged reefs to maintain ecological balance. Categorical variables were encoded using either label encoding or one‑hot encoding depending on model needs, ensuring all features were in a form digestible by algorithms. For non‑tree models, standard scaling was applied so that features shared a common measurement scale, making the ocean currents smoother for models like SVMs and logistic regression that are sensitive to feature magnitudes. This slide emphasizes that careful preprocessing ensures a cleaner, healthier data ecosystem, enabling fair comparison among models by minimizing confounding factors. It sets the stage for understanding how models navigate the dataset and which patterns they pick up during training.</a:t>
            </a:r>
          </a:p>
        </p:txBody>
      </p:sp>
      <p:sp>
        <p:nvSpPr>
          <p:cNvPr id="4" name="Slide Number Placeholder 3"/>
          <p:cNvSpPr>
            <a:spLocks noGrp="1"/>
          </p:cNvSpPr>
          <p:nvPr>
            <p:ph type="sldNum" sz="quarter" idx="5"/>
          </p:nvPr>
        </p:nvSpPr>
        <p:spPr/>
        <p:txBody>
          <a:bodyPr/>
          <a:lstStyle/>
          <a:p>
            <a:fld id="{BF2A244C-F6A2-4D0A-A13B-1FB59927BCC3}" type="slidenum">
              <a:t>3</a:t>
            </a:fld>
            <a:endParaRPr lang="en-US"/>
          </a:p>
        </p:txBody>
      </p:sp>
    </p:spTree>
    <p:extLst>
      <p:ext uri="{BB962C8B-B14F-4D97-AF65-F5344CB8AC3E}">
        <p14:creationId xmlns:p14="http://schemas.microsoft.com/office/powerpoint/2010/main" val="3857033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the diverse machine learning models evaluated in the study, each compared to a distinct species inhabiting a coral reef, competing and cooperating within a shared ecosystem. Linear models—logistic regression and linear SVM—are portrayed as streamlined fish adapted for predictable, open‑water movement, benefiting from simplicity and interpretability. They rely on linear decision boundaries and perform efficiently when the environment contains mostly straight‑forward patterns. Kernelized SVMs represent more exotic species exhibiting flexible movement patterns, capable of identifying curved and nonlinear structures using transformation functions such as radial basis functions. Tree‑based ensemble models—Random Forests, Gradient Boosting, and Bagging—serve as schools of fish working collectively to navigate complex environments, where individual decisions combine into robust overall predictions. Discriminant analysis models (LDA and QDA) operate like species that use probabilistic intuition, inferring structure based on assumed distributions. The slide clarifies the importance of including such a diverse set of models: each offers a unique lens on the structure of the Titanic dataset, enabling the analysis to determine whether survival patterns are linear, nonlinear, additive, or interactive. By comparing performance across these interconnected model families, the study examines not only which species swims fastest but also which is best adapted to the currents and obstacles present in the dataset. This establishes the conceptual framework for understanding the hyperparameter tuning and performance results presented in later slides.</a:t>
            </a:r>
          </a:p>
        </p:txBody>
      </p:sp>
      <p:sp>
        <p:nvSpPr>
          <p:cNvPr id="4" name="Slide Number Placeholder 3"/>
          <p:cNvSpPr>
            <a:spLocks noGrp="1"/>
          </p:cNvSpPr>
          <p:nvPr>
            <p:ph type="sldNum" sz="quarter" idx="5"/>
          </p:nvPr>
        </p:nvSpPr>
        <p:spPr/>
        <p:txBody>
          <a:bodyPr/>
          <a:lstStyle/>
          <a:p>
            <a:fld id="{BF2A244C-F6A2-4D0A-A13B-1FB59927BCC3}" type="slidenum">
              <a:t>4</a:t>
            </a:fld>
            <a:endParaRPr lang="en-US"/>
          </a:p>
        </p:txBody>
      </p:sp>
    </p:spTree>
    <p:extLst>
      <p:ext uri="{BB962C8B-B14F-4D97-AF65-F5344CB8AC3E}">
        <p14:creationId xmlns:p14="http://schemas.microsoft.com/office/powerpoint/2010/main" val="1275682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explains how the models were trained and tuned using 5‑fold cross‑validation and GridSearchCV, drawing parallels to schooling behavior in fish, where coordinated patterns enhance survival. Cross‑validation divides the dataset into five partitions, allowing each model to train on different portions of the ocean while being evaluated on the remaining sections, improving generalization and preventing overfitting. GridSearchCV explores hyperparameter combinations like various fin shapes or swimming patterns a species might adapt to optimize performance in a given habitat. For example, SVMs require tuning cost parameters and kernel shapes, while Random Forests require adjusting tree depth, number of estimators, and splitting strategies. Ensemble methods were evaluated with metrics emphasizing both accuracy and F1 score, reflecting their role in balancing precision and recall. The slide highlights that training involved consistent use of accuracy, ROC‑AUC, and other metrics across methods to create an apples‑to‑apples comparison. This rigorous training process ensures that model performance reflects genuine adaptation to patterns in the data rather than accidental advantages from arbitrary settings. By illustrating the complexity and precision behind tuning, the slide conveys that strong model performance arises from systematic optimization, much like a well‑coordinated school of fish improving its survival odds through synchronized behavior.</a:t>
            </a:r>
          </a:p>
        </p:txBody>
      </p:sp>
      <p:sp>
        <p:nvSpPr>
          <p:cNvPr id="4" name="Slide Number Placeholder 3"/>
          <p:cNvSpPr>
            <a:spLocks noGrp="1"/>
          </p:cNvSpPr>
          <p:nvPr>
            <p:ph type="sldNum" sz="quarter" idx="5"/>
          </p:nvPr>
        </p:nvSpPr>
        <p:spPr/>
        <p:txBody>
          <a:bodyPr/>
          <a:lstStyle/>
          <a:p>
            <a:fld id="{BF2A244C-F6A2-4D0A-A13B-1FB59927BCC3}" type="slidenum">
              <a:t>5</a:t>
            </a:fld>
            <a:endParaRPr lang="en-US"/>
          </a:p>
        </p:txBody>
      </p:sp>
    </p:spTree>
    <p:extLst>
      <p:ext uri="{BB962C8B-B14F-4D97-AF65-F5344CB8AC3E}">
        <p14:creationId xmlns:p14="http://schemas.microsoft.com/office/powerpoint/2010/main" val="2879768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presents the key performance results, portraying each model as a swimmer competing in an open‑sea marathon. The standout performers—Random Forest and SVM with an RBF kernel—achieved the highest test accuracy of approximately 83.4%, demonstrating superior ability to capture nonlinear relationships resembling complex current patterns in the ocean. Random Forest obtained the highest ROC‑AUC value of 0.8814 and the strongest F1‑score of 0.7933, indicating reliable discrimination across survival classes and balanced precision and recall. Its ensemble structure allows it to reduce variance through averaging, stabilizing predictions in turbulent waters where individual decision trees may drift off course. The SVM‑RBF model performed nearly as well, with high precision and competitive F1 scores, though its recall trailed the Random Forest slightly, suggesting a more conservative approach to identifying survivors. Tree‑based ensembles such as Gradient Boosting and Bagging also performed admirably, showcasing the collective strength of models that build progressively refined predictions. Linear SVM, surprisingly strong among simpler models, demonstrated that some survival patterns can indeed be captured by linear boundaries. Meanwhile, Logistic Regression and LDA provided interpretable but slightly weaker performance. QDA showed high recall but struggled with precision. This slide emphasizes that the best swimmers were the models capable of navigating nonlinear and interactive patterns, reaffirming the importance of flexibility when modeling survival outcomes.</a:t>
            </a:r>
          </a:p>
        </p:txBody>
      </p:sp>
      <p:sp>
        <p:nvSpPr>
          <p:cNvPr id="4" name="Slide Number Placeholder 3"/>
          <p:cNvSpPr>
            <a:spLocks noGrp="1"/>
          </p:cNvSpPr>
          <p:nvPr>
            <p:ph type="sldNum" sz="quarter" idx="5"/>
          </p:nvPr>
        </p:nvSpPr>
        <p:spPr/>
        <p:txBody>
          <a:bodyPr/>
          <a:lstStyle/>
          <a:p>
            <a:fld id="{BF2A244C-F6A2-4D0A-A13B-1FB59927BCC3}" type="slidenum">
              <a:t>6</a:t>
            </a:fld>
            <a:endParaRPr lang="en-US"/>
          </a:p>
        </p:txBody>
      </p:sp>
    </p:spTree>
    <p:extLst>
      <p:ext uri="{BB962C8B-B14F-4D97-AF65-F5344CB8AC3E}">
        <p14:creationId xmlns:p14="http://schemas.microsoft.com/office/powerpoint/2010/main" val="2162861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offers an analytical interpretation of why certain models outperformed others, mapping the discussion to evolutionary adaptations in marine species. Random Forest and RBF‑kernel SVMs excelled because they can detect nonlinear decision boundaries and intricate feature interactions, similar to fish that navigate coral mazes with agility. QDA, while nonlinear, assumes Gaussian distributions for each class and may misinterpret regions where the data structure diverges from those assumptions. Linear SVM and logistic regression operate like fast but rigidity‑bound swimmers, well‑adapted to straight‑line movement but unable to turn sharply when data patterns curve. Ensemble methods benefit from collective intelligence, much like schools of fish compensating for individual weaknesses through group coordination. Boosting reduces bias by learning iteratively from prior errors, while Bagging reduces variance by averaging multiple models trained on bootstrap samples. This slide emphasizes that model success depends on matching assumptions to real‑world complexity: the Titanic data contains nonlinear patterns shaped by social norms and survival constraints, requiring flexible decision rules. The contrast between different model strengths underscores the broader lesson that model selection is always context‑dependent, shaped by data structure, performance priorities, and interpretability needs.</a:t>
            </a:r>
          </a:p>
        </p:txBody>
      </p:sp>
      <p:sp>
        <p:nvSpPr>
          <p:cNvPr id="4" name="Slide Number Placeholder 3"/>
          <p:cNvSpPr>
            <a:spLocks noGrp="1"/>
          </p:cNvSpPr>
          <p:nvPr>
            <p:ph type="sldNum" sz="quarter" idx="5"/>
          </p:nvPr>
        </p:nvSpPr>
        <p:spPr/>
        <p:txBody>
          <a:bodyPr/>
          <a:lstStyle/>
          <a:p>
            <a:fld id="{BF2A244C-F6A2-4D0A-A13B-1FB59927BCC3}" type="slidenum">
              <a:t>7</a:t>
            </a:fld>
            <a:endParaRPr lang="en-US"/>
          </a:p>
        </p:txBody>
      </p:sp>
    </p:spTree>
    <p:extLst>
      <p:ext uri="{BB962C8B-B14F-4D97-AF65-F5344CB8AC3E}">
        <p14:creationId xmlns:p14="http://schemas.microsoft.com/office/powerpoint/2010/main" val="2746684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discusses the tradeoff between interpretability and predictive power, framing it as a tension between colorful but complex coral ecosystems and the clear, open waters where patterns are easier to understand. Linear models such as logistic regression, LDA, and linear SVM offer high transparency: their coefficients can be interpreted directly, providing insight into how each feature influences survival. These models resemble fish that swim in shallow waters where visibility is high and movements are easy to track. In contrast, Random Forests, Gradient Boosting, and RBF SVMs operate in deeper, murkier waters where interactions are complex and visibility is limited. Although they perform better, their inner workings are more difficult to interpret. Ensemble methods blur direct explanations because predictions arise from aggregated contributions of many components. This slide emphasizes the importance of considering practical constraints: in regulated industries, models with high interpretability may be preferred even at the cost of slightly lower accuracy. Meanwhile, flexible nonlinear models are ideal when performance is the top priority and transparency is less critical. The fish‑themed perspective helps highlight how varying environments require different survival strategies, just as different real‑world applications impose unique modeling requirements.</a:t>
            </a:r>
          </a:p>
        </p:txBody>
      </p:sp>
      <p:sp>
        <p:nvSpPr>
          <p:cNvPr id="4" name="Slide Number Placeholder 3"/>
          <p:cNvSpPr>
            <a:spLocks noGrp="1"/>
          </p:cNvSpPr>
          <p:nvPr>
            <p:ph type="sldNum" sz="quarter" idx="5"/>
          </p:nvPr>
        </p:nvSpPr>
        <p:spPr/>
        <p:txBody>
          <a:bodyPr/>
          <a:lstStyle/>
          <a:p>
            <a:fld id="{BF2A244C-F6A2-4D0A-A13B-1FB59927BCC3}" type="slidenum">
              <a:t>8</a:t>
            </a:fld>
            <a:endParaRPr lang="en-US"/>
          </a:p>
        </p:txBody>
      </p:sp>
    </p:spTree>
    <p:extLst>
      <p:ext uri="{BB962C8B-B14F-4D97-AF65-F5344CB8AC3E}">
        <p14:creationId xmlns:p14="http://schemas.microsoft.com/office/powerpoint/2010/main" val="1445733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a high‑level conclusion summarizing major findings and their implications through an ocean metaphor. Random Forest emerges as the strongest swimmer in the predictive sea, offering the best balance of accuracy, F1 score, and ROC‑AUC, making it the preferred model when predictive performance is paramount. However, the slide reiterates that there is no universally optimal species in machine learning: each model has ecological niches where it excels. Kernel SVMs perform nearly as well, highlighting the relevance of nonlinear decision boundaries in Titanic survival patterns. Linear models remain valuable for their interpretability, especially in scenarios where transparency or regulatory accountability is required. This slide emphasizes that model selection is a multidimensional decision requiring careful consideration of factors such as interpretability, generalization, computational cost, and robustness. Ultimately, the conclusion compares the modeling landscape to a thriving underwater ecosystem, where diversity strengthens resilience and where understanding the strengths of each species leads to more informed and effective decision‑making.</a:t>
            </a:r>
          </a:p>
        </p:txBody>
      </p:sp>
      <p:sp>
        <p:nvSpPr>
          <p:cNvPr id="4" name="Slide Number Placeholder 3"/>
          <p:cNvSpPr>
            <a:spLocks noGrp="1"/>
          </p:cNvSpPr>
          <p:nvPr>
            <p:ph type="sldNum" sz="quarter" idx="5"/>
          </p:nvPr>
        </p:nvSpPr>
        <p:spPr/>
        <p:txBody>
          <a:bodyPr/>
          <a:lstStyle/>
          <a:p>
            <a:fld id="{BF2A244C-F6A2-4D0A-A13B-1FB59927BCC3}" type="slidenum">
              <a:t>9</a:t>
            </a:fld>
            <a:endParaRPr lang="en-US"/>
          </a:p>
        </p:txBody>
      </p:sp>
    </p:spTree>
    <p:extLst>
      <p:ext uri="{BB962C8B-B14F-4D97-AF65-F5344CB8AC3E}">
        <p14:creationId xmlns:p14="http://schemas.microsoft.com/office/powerpoint/2010/main" val="234073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final slide wraps up the presentation in a fish‑themed closing message, encouraging audience engagement and reflection. It reinforces the core ideas of the analysis, emphasizing that the comparative study approached machine learning model evaluation not merely as a technical exercise but as an exploration of how different algorithmic species navigate the same data environment. It reminds the audience that survival prediction on the Titanic is a rich example of how patterns in human behavior emerge in structured datasets and how machine learning models can uncover them effectively. The closing message encourages consideration of interpretability, complexity, and real‑world applicability in future modeling work, drawing parallels to the ocean’s delicate balance where each organism contributes uniquely to the ecosystem. By maintaining the playful yet informative fish theme, the slide leaves the audience with a memorable visualization of both the analytical journey and the broader lessons about model evaluation, selection, and interpretation. It invites questions and discussion, positioning the presenter as ready to dive deeper into any part of the analysis. Though lighthearted in its aquatic framing, this final message reinforces serious themes of thoughtful methodology, critical evaluation, and the importance of aligning model choice with practical objectives in applied machine learning.</a:t>
            </a:r>
          </a:p>
        </p:txBody>
      </p:sp>
      <p:sp>
        <p:nvSpPr>
          <p:cNvPr id="4" name="Slide Number Placeholder 3"/>
          <p:cNvSpPr>
            <a:spLocks noGrp="1"/>
          </p:cNvSpPr>
          <p:nvPr>
            <p:ph type="sldNum" sz="quarter" idx="5"/>
          </p:nvPr>
        </p:nvSpPr>
        <p:spPr/>
        <p:txBody>
          <a:bodyPr/>
          <a:lstStyle/>
          <a:p>
            <a:fld id="{BF2A244C-F6A2-4D0A-A13B-1FB59927BCC3}" type="slidenum">
              <a:t>10</a:t>
            </a:fld>
            <a:endParaRPr lang="en-US"/>
          </a:p>
        </p:txBody>
      </p:sp>
    </p:spTree>
    <p:extLst>
      <p:ext uri="{BB962C8B-B14F-4D97-AF65-F5344CB8AC3E}">
        <p14:creationId xmlns:p14="http://schemas.microsoft.com/office/powerpoint/2010/main" val="28014952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2/2/2026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a:t>
            </a:fld>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73085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3431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2/2/2026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557031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dirty="0"/>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2/2/2026</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2039840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2/2/2026</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06628390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2/2/2026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3275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2/2/2026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575217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2/2/2026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37004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2/2/2026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54319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2/2/2026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59437368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2/2/2026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403411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endParaRPr lang="en-US" dirty="0"/>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2/2/2026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6732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46939668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49717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07719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88638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93460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05889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4815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81558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881753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19364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978171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773066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7635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dirty="0"/>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1695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endParaRPr lang="en-US" dirty="0"/>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2/2/2026</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40144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839580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84421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dirty="0"/>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46285324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69656087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4565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dirty="0"/>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2/2/2026</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303361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2/2/2026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58075274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2/2/2026</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40639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2/2/2026</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72933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2/2/2026</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053202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dirty="0"/>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2/2/2026</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080399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2/2/2026</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496999"/>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2/2/2026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507064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2/2/2026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62212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2/2/2026</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344168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dirty="0"/>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2/2/2026</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160767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2/2/2026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378884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2/2/2026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77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2/2/2026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0139848"/>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2/2/2026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01313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2/2/2026</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15494639"/>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2/2/2026</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77609724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2/2/2026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27549529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2/2/2026</a:t>
            </a:fld>
            <a:endParaRPr lang="en-US" dirty="0"/>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a:t>
            </a:fld>
            <a:endParaRPr lang="en-US" dirty="0"/>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75759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695223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2/2/2026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210519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2/2/2026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a:t>
            </a:fld>
            <a:endParaRPr lang="en-US" dirty="0"/>
          </a:p>
        </p:txBody>
      </p:sp>
    </p:spTree>
    <p:extLst>
      <p:ext uri="{BB962C8B-B14F-4D97-AF65-F5344CB8AC3E}">
        <p14:creationId xmlns:p14="http://schemas.microsoft.com/office/powerpoint/2010/main" val="657732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6.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DDD58-7987-3C3D-4ECA-07E6DFEE1A93}"/>
              </a:ext>
            </a:extLst>
          </p:cNvPr>
          <p:cNvSpPr>
            <a:spLocks noGrp="1"/>
          </p:cNvSpPr>
          <p:nvPr>
            <p:ph type="title"/>
          </p:nvPr>
        </p:nvSpPr>
        <p:spPr>
          <a:xfrm>
            <a:off x="8068158" y="768351"/>
            <a:ext cx="3661466" cy="1682385"/>
          </a:xfrm>
        </p:spPr>
        <p:txBody>
          <a:bodyPr anchor="t">
            <a:normAutofit fontScale="90000"/>
          </a:bodyPr>
          <a:lstStyle/>
          <a:p>
            <a:r>
              <a:rPr lang="en-US" sz="3700" dirty="0"/>
              <a:t>Who is going to swim with the fish?</a:t>
            </a:r>
            <a:br>
              <a:rPr lang="en-US" sz="3700" dirty="0"/>
            </a:br>
            <a:endParaRPr lang="en-US" sz="3700" dirty="0"/>
          </a:p>
        </p:txBody>
      </p:sp>
      <p:pic>
        <p:nvPicPr>
          <p:cNvPr id="4" name="Picture 3" descr="Snorkeling in Adriatic sea. Group of fishes in the sea. Underwater view - Hvar Island, Croatia.">
            <a:extLst>
              <a:ext uri="{FF2B5EF4-FFF2-40B4-BE49-F238E27FC236}">
                <a16:creationId xmlns:a16="http://schemas.microsoft.com/office/drawing/2014/main" id="{16A8CCEE-3877-439B-981D-CE25589365C9}"/>
              </a:ext>
            </a:extLst>
          </p:cNvPr>
          <p:cNvPicPr>
            <a:picLocks noChangeAspect="1"/>
          </p:cNvPicPr>
          <p:nvPr/>
        </p:nvPicPr>
        <p:blipFill>
          <a:blip r:embed="rId3"/>
          <a:srcRect r="-1" b="88"/>
          <a:stretch>
            <a:fillRect/>
          </a:stretch>
        </p:blipFill>
        <p:spPr>
          <a:xfrm>
            <a:off x="20" y="10"/>
            <a:ext cx="7605661" cy="6857990"/>
          </a:xfrm>
          <a:prstGeom prst="rect">
            <a:avLst/>
          </a:prstGeom>
          <a:effectLst>
            <a:outerShdw blurRad="203200" dist="12700" dir="7800000" algn="r" rotWithShape="0">
              <a:prstClr val="black">
                <a:alpha val="10000"/>
              </a:prstClr>
            </a:outerShdw>
          </a:effectLst>
        </p:spPr>
      </p:pic>
      <p:sp>
        <p:nvSpPr>
          <p:cNvPr id="3" name="Subtitle 2">
            <a:extLst>
              <a:ext uri="{FF2B5EF4-FFF2-40B4-BE49-F238E27FC236}">
                <a16:creationId xmlns:a16="http://schemas.microsoft.com/office/drawing/2014/main" id="{DAD9CC56-32FE-8EF7-BA8B-4D85E003AE1B}"/>
              </a:ext>
            </a:extLst>
          </p:cNvPr>
          <p:cNvSpPr>
            <a:spLocks noGrp="1"/>
          </p:cNvSpPr>
          <p:nvPr>
            <p:ph type="body" idx="1"/>
          </p:nvPr>
        </p:nvSpPr>
        <p:spPr>
          <a:xfrm>
            <a:off x="8073978" y="5681133"/>
            <a:ext cx="3655646" cy="664191"/>
          </a:xfrm>
        </p:spPr>
        <p:txBody>
          <a:bodyPr anchor="t">
            <a:normAutofit/>
          </a:bodyPr>
          <a:lstStyle/>
          <a:p>
            <a:pPr>
              <a:lnSpc>
                <a:spcPct val="110000"/>
              </a:lnSpc>
            </a:pPr>
            <a:r>
              <a:rPr lang="en-US" sz="1700" dirty="0"/>
              <a:t>Overview of survival insights on the titanic</a:t>
            </a:r>
          </a:p>
        </p:txBody>
      </p:sp>
      <p:sp>
        <p:nvSpPr>
          <p:cNvPr id="5" name="TextBox 4">
            <a:extLst>
              <a:ext uri="{FF2B5EF4-FFF2-40B4-BE49-F238E27FC236}">
                <a16:creationId xmlns:a16="http://schemas.microsoft.com/office/drawing/2014/main" id="{AFABB24D-6CD0-A035-AB99-4F2CC6369E08}"/>
              </a:ext>
            </a:extLst>
          </p:cNvPr>
          <p:cNvSpPr txBox="1"/>
          <p:nvPr/>
        </p:nvSpPr>
        <p:spPr>
          <a:xfrm>
            <a:off x="8073002" y="2867366"/>
            <a:ext cx="366954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By Austin Coulter, Peter Nguyen, and Preethi </a:t>
            </a:r>
            <a:r>
              <a:rPr lang="en-US" dirty="0" err="1"/>
              <a:t>Vezhavenden</a:t>
            </a:r>
          </a:p>
        </p:txBody>
      </p:sp>
    </p:spTree>
    <p:extLst>
      <p:ext uri="{BB962C8B-B14F-4D97-AF65-F5344CB8AC3E}">
        <p14:creationId xmlns:p14="http://schemas.microsoft.com/office/powerpoint/2010/main" val="165558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6C8C-D766-234E-A051-328B680B07B4}"/>
              </a:ext>
            </a:extLst>
          </p:cNvPr>
          <p:cNvSpPr>
            <a:spLocks noGrp="1"/>
          </p:cNvSpPr>
          <p:nvPr>
            <p:ph type="title"/>
          </p:nvPr>
        </p:nvSpPr>
        <p:spPr>
          <a:xfrm>
            <a:off x="4977971" y="691866"/>
            <a:ext cx="6680630" cy="1217337"/>
          </a:xfrm>
        </p:spPr>
        <p:txBody>
          <a:bodyPr anchor="t">
            <a:normAutofit/>
          </a:bodyPr>
          <a:lstStyle/>
          <a:p>
            <a:r>
              <a:rPr lang="en-US" dirty="0"/>
              <a:t>The Problem</a:t>
            </a:r>
          </a:p>
        </p:txBody>
      </p:sp>
      <p:pic>
        <p:nvPicPr>
          <p:cNvPr id="5" name="Content Placeholder 4" descr="Team Leader">
            <a:extLst>
              <a:ext uri="{FF2B5EF4-FFF2-40B4-BE49-F238E27FC236}">
                <a16:creationId xmlns:a16="http://schemas.microsoft.com/office/drawing/2014/main" id="{13FD02C5-686E-4B0A-A09C-3A465264E94A}"/>
              </a:ext>
            </a:extLst>
          </p:cNvPr>
          <p:cNvPicPr>
            <a:picLocks noGrp="1" noChangeAspect="1"/>
          </p:cNvPicPr>
          <p:nvPr>
            <p:ph type="pic" sz="quarter" idx="13"/>
          </p:nvPr>
        </p:nvPicPr>
        <p:blipFill>
          <a:blip r:embed="rId3"/>
          <a:srcRect l="20302" r="30384" b="-2"/>
          <a:stretch>
            <a:fillRect/>
          </a:stretch>
        </p:blipFill>
        <p:spPr>
          <a:xfrm>
            <a:off x="533400" y="533400"/>
            <a:ext cx="3886200" cy="5811924"/>
          </a:xfrm>
        </p:spPr>
      </p:pic>
      <p:sp>
        <p:nvSpPr>
          <p:cNvPr id="4" name="Content Placeholder 3">
            <a:extLst>
              <a:ext uri="{FF2B5EF4-FFF2-40B4-BE49-F238E27FC236}">
                <a16:creationId xmlns:a16="http://schemas.microsoft.com/office/drawing/2014/main" id="{0BF2370A-428B-4830-06A1-47161668F1A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77971" y="2010699"/>
            <a:ext cx="6680630" cy="4313902"/>
          </a:xfrm>
        </p:spPr>
        <p:txBody>
          <a:bodyPr vert="horz" lIns="91440" tIns="45720" rIns="91440" bIns="45720" rtlCol="0" anchor="t">
            <a:normAutofit/>
          </a:bodyPr>
          <a:lstStyle/>
          <a:p>
            <a:pPr marL="0" indent="0">
              <a:lnSpc>
                <a:spcPct val="110000"/>
              </a:lnSpc>
              <a:spcBef>
                <a:spcPts val="2500"/>
              </a:spcBef>
              <a:buNone/>
            </a:pPr>
            <a:r>
              <a:rPr lang="en-US" sz="1800" b="1" dirty="0"/>
              <a:t>Titanic Survival Data Insights and predicting passenger survival</a:t>
            </a:r>
            <a:endParaRPr lang="en-US" sz="1800" dirty="0"/>
          </a:p>
          <a:p>
            <a:pPr marL="0" lvl="1" indent="0">
              <a:lnSpc>
                <a:spcPct val="110000"/>
              </a:lnSpc>
              <a:buNone/>
            </a:pPr>
            <a:r>
              <a:rPr lang="en-US" sz="1800" dirty="0"/>
              <a:t>Survival was not random and </a:t>
            </a:r>
            <a:r>
              <a:rPr sz="1800" dirty="0"/>
              <a:t>depended on traits like age, gender, and class, creating patterns for models to detect and learn.</a:t>
            </a:r>
            <a:endParaRPr lang="en-US" sz="1800" dirty="0"/>
          </a:p>
          <a:p>
            <a:pPr marL="0" indent="0">
              <a:lnSpc>
                <a:spcPct val="110000"/>
              </a:lnSpc>
              <a:spcBef>
                <a:spcPts val="2500"/>
              </a:spcBef>
              <a:buFont typeface="Arial" panose="020B0604020202020204" pitchFamily="34" charset="0"/>
              <a:buNone/>
            </a:pPr>
            <a:r>
              <a:rPr lang="en-US" sz="1800" b="1" dirty="0"/>
              <a:t>Comparative Model Study</a:t>
            </a:r>
          </a:p>
          <a:p>
            <a:pPr marL="0" lvl="1" indent="0">
              <a:lnSpc>
                <a:spcPct val="110000"/>
              </a:lnSpc>
              <a:buFont typeface="Arial" panose="020B0604020202020204" pitchFamily="34" charset="0"/>
              <a:buNone/>
            </a:pPr>
            <a:r>
              <a:rPr sz="1800" dirty="0"/>
              <a:t>Nine models, including logistic regression and Random Forests, are compared for capturing complex survival interactions.</a:t>
            </a:r>
            <a:endParaRPr lang="en-US" sz="1800" dirty="0"/>
          </a:p>
          <a:p>
            <a:pPr marL="0" lvl="1" indent="0">
              <a:lnSpc>
                <a:spcPct val="110000"/>
              </a:lnSpc>
              <a:buNone/>
            </a:pPr>
            <a:endParaRPr lang="en-US" dirty="0"/>
          </a:p>
          <a:p>
            <a:pPr marL="0" lvl="1" indent="0">
              <a:lnSpc>
                <a:spcPct val="110000"/>
              </a:lnSpc>
              <a:buNone/>
            </a:pPr>
            <a:endParaRPr lang="en-US" dirty="0">
              <a:solidFill>
                <a:srgbClr val="0F0F0F"/>
              </a:solidFill>
              <a:latin typeface="Arial Nova Light"/>
              <a:ea typeface="Calibri"/>
              <a:cs typeface="Arial"/>
            </a:endParaRPr>
          </a:p>
        </p:txBody>
      </p:sp>
    </p:spTree>
    <p:extLst>
      <p:ext uri="{BB962C8B-B14F-4D97-AF65-F5344CB8AC3E}">
        <p14:creationId xmlns:p14="http://schemas.microsoft.com/office/powerpoint/2010/main" val="31478035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52143-0490-BA73-9C99-3F31B5B76698}"/>
              </a:ext>
            </a:extLst>
          </p:cNvPr>
          <p:cNvSpPr>
            <a:spLocks noGrp="1"/>
          </p:cNvSpPr>
          <p:nvPr>
            <p:ph type="title"/>
          </p:nvPr>
        </p:nvSpPr>
        <p:spPr>
          <a:xfrm>
            <a:off x="4848555" y="512011"/>
            <a:ext cx="6792069" cy="1259920"/>
          </a:xfrm>
        </p:spPr>
        <p:txBody>
          <a:bodyPr anchor="b">
            <a:normAutofit/>
          </a:bodyPr>
          <a:lstStyle/>
          <a:p>
            <a:r>
              <a:rPr lang="en-US" dirty="0"/>
              <a:t>Exploring the Data</a:t>
            </a:r>
          </a:p>
        </p:txBody>
      </p:sp>
      <p:sp>
        <p:nvSpPr>
          <p:cNvPr id="4" name="Content Placeholder 3">
            <a:extLst>
              <a:ext uri="{FF2B5EF4-FFF2-40B4-BE49-F238E27FC236}">
                <a16:creationId xmlns:a16="http://schemas.microsoft.com/office/drawing/2014/main" id="{08DD0E2C-CFA5-0954-5661-C49F3D68723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vert="horz" lIns="91440" tIns="45720" rIns="91440" bIns="45720" rtlCol="0" anchor="t">
            <a:noAutofit/>
          </a:bodyPr>
          <a:lstStyle/>
          <a:p>
            <a:pPr marL="0" indent="0">
              <a:lnSpc>
                <a:spcPct val="110000"/>
              </a:lnSpc>
              <a:spcBef>
                <a:spcPts val="2500"/>
              </a:spcBef>
              <a:buFont typeface="Arial" panose="020B0604020202020204" pitchFamily="34" charset="0"/>
              <a:buNone/>
            </a:pPr>
            <a:r>
              <a:rPr lang="en-US" sz="1600" b="1" dirty="0"/>
              <a:t>Dataset Overview and Imbalance</a:t>
            </a:r>
          </a:p>
          <a:p>
            <a:pPr marL="0" lvl="1" indent="0">
              <a:lnSpc>
                <a:spcPct val="110000"/>
              </a:lnSpc>
              <a:buFont typeface="Arial" panose="020B0604020202020204" pitchFamily="34" charset="0"/>
              <a:buNone/>
            </a:pPr>
            <a:r>
              <a:rPr sz="1600" dirty="0"/>
              <a:t>The Titanic dataset has 891 entries with 26 variables, featuring an imbalance of survivors and non-survivors influencing model learning.</a:t>
            </a:r>
            <a:endParaRPr lang="en-US" sz="1600" dirty="0"/>
          </a:p>
          <a:p>
            <a:pPr marL="0" indent="0">
              <a:lnSpc>
                <a:spcPct val="110000"/>
              </a:lnSpc>
              <a:spcBef>
                <a:spcPts val="2500"/>
              </a:spcBef>
              <a:buFont typeface="Arial" panose="020B0604020202020204" pitchFamily="34" charset="0"/>
              <a:buNone/>
            </a:pPr>
            <a:r>
              <a:rPr lang="en-US" sz="1600" b="1" dirty="0"/>
              <a:t>Feature Selection and Cleaning</a:t>
            </a:r>
          </a:p>
          <a:p>
            <a:pPr marL="0" lvl="1" indent="0">
              <a:lnSpc>
                <a:spcPct val="110000"/>
              </a:lnSpc>
              <a:buFont typeface="Arial" panose="020B0604020202020204" pitchFamily="34" charset="0"/>
              <a:buNone/>
            </a:pPr>
            <a:r>
              <a:rPr sz="1600" dirty="0"/>
              <a:t>Irrelevant features were removed and missing values imputed</a:t>
            </a:r>
            <a:endParaRPr lang="en-US" sz="1600" dirty="0"/>
          </a:p>
          <a:p>
            <a:pPr marL="0" indent="0">
              <a:lnSpc>
                <a:spcPct val="110000"/>
              </a:lnSpc>
              <a:spcBef>
                <a:spcPts val="2500"/>
              </a:spcBef>
              <a:buFont typeface="Arial" panose="020B0604020202020204" pitchFamily="34" charset="0"/>
              <a:buNone/>
            </a:pPr>
            <a:r>
              <a:rPr lang="en-US" sz="1600" b="1" dirty="0"/>
              <a:t>Encoding and Scaling</a:t>
            </a:r>
          </a:p>
          <a:p>
            <a:pPr marL="0" lvl="1" indent="0">
              <a:lnSpc>
                <a:spcPct val="110000"/>
              </a:lnSpc>
              <a:buNone/>
            </a:pPr>
            <a:r>
              <a:rPr sz="1600" dirty="0"/>
              <a:t>Categorical variables were encoded and features scaled for algorithm </a:t>
            </a:r>
            <a:r>
              <a:rPr lang="en-US" sz="1600" dirty="0"/>
              <a:t>compatibility.</a:t>
            </a:r>
          </a:p>
          <a:p>
            <a:pPr marL="0" indent="0">
              <a:lnSpc>
                <a:spcPct val="110000"/>
              </a:lnSpc>
              <a:spcBef>
                <a:spcPts val="2500"/>
              </a:spcBef>
              <a:buNone/>
            </a:pPr>
            <a:r>
              <a:rPr lang="en-US" sz="1600" b="1" dirty="0"/>
              <a:t>Feature Standardization</a:t>
            </a:r>
            <a:endParaRPr lang="en-US" sz="1600" dirty="0"/>
          </a:p>
          <a:p>
            <a:pPr marL="0" lvl="1" indent="0">
              <a:lnSpc>
                <a:spcPct val="110000"/>
              </a:lnSpc>
              <a:buNone/>
            </a:pPr>
            <a:r>
              <a:rPr lang="en-US" sz="1600" dirty="0"/>
              <a:t>Standardizing numerical features prevents scale imbalance, ensuring fair influence on gradient-based models.</a:t>
            </a:r>
          </a:p>
        </p:txBody>
      </p:sp>
      <p:pic>
        <p:nvPicPr>
          <p:cNvPr id="6" name="Content Placeholder 4" descr="Close-up of small fish in a tank">
            <a:extLst>
              <a:ext uri="{FF2B5EF4-FFF2-40B4-BE49-F238E27FC236}">
                <a16:creationId xmlns:a16="http://schemas.microsoft.com/office/drawing/2014/main" id="{807D10C8-9138-1D74-AFA2-ED748889D4AF}"/>
              </a:ext>
            </a:extLst>
          </p:cNvPr>
          <p:cNvPicPr>
            <a:picLocks noChangeAspect="1"/>
          </p:cNvPicPr>
          <p:nvPr/>
        </p:nvPicPr>
        <p:blipFill>
          <a:blip r:embed="rId3"/>
          <a:srcRect l="25634" r="31419" b="1"/>
          <a:stretch>
            <a:fillRect/>
          </a:stretch>
        </p:blipFill>
        <p:spPr>
          <a:xfrm>
            <a:off x="564847" y="516466"/>
            <a:ext cx="3886200" cy="5791201"/>
          </a:xfrm>
          <a:prstGeom prst="rect">
            <a:avLst/>
          </a:prstGeom>
          <a:blipFill dpi="0" rotWithShape="1">
            <a:blip r:embed="rId4">
              <a:alphaModFix amt="70000"/>
            </a:blip>
            <a:srcRect/>
            <a:stretch>
              <a:fillRect/>
            </a:stretch>
          </a:blipFill>
          <a:effectLst>
            <a:outerShdw blurRad="203200" dist="12700" dir="7800000" algn="r" rotWithShape="0">
              <a:prstClr val="black">
                <a:alpha val="10000"/>
              </a:prstClr>
            </a:outerShdw>
          </a:effectLst>
        </p:spPr>
      </p:pic>
    </p:spTree>
    <p:extLst>
      <p:ext uri="{BB962C8B-B14F-4D97-AF65-F5344CB8AC3E}">
        <p14:creationId xmlns:p14="http://schemas.microsoft.com/office/powerpoint/2010/main" val="22151333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93D0A-7C89-8E88-5BDB-A3A4AA6E153B}"/>
              </a:ext>
            </a:extLst>
          </p:cNvPr>
          <p:cNvSpPr>
            <a:spLocks noGrp="1"/>
          </p:cNvSpPr>
          <p:nvPr>
            <p:ph type="title"/>
          </p:nvPr>
        </p:nvSpPr>
        <p:spPr>
          <a:xfrm>
            <a:off x="4848555" y="512011"/>
            <a:ext cx="6792069" cy="1259920"/>
          </a:xfrm>
        </p:spPr>
        <p:txBody>
          <a:bodyPr anchor="b">
            <a:normAutofit/>
          </a:bodyPr>
          <a:lstStyle/>
          <a:p>
            <a:r>
              <a:rPr lang="en-US" dirty="0"/>
              <a:t>Models</a:t>
            </a:r>
          </a:p>
        </p:txBody>
      </p:sp>
      <p:pic>
        <p:nvPicPr>
          <p:cNvPr id="5" name="Content Placeholder 4" descr="Inside my salt water fish tank">
            <a:extLst>
              <a:ext uri="{FF2B5EF4-FFF2-40B4-BE49-F238E27FC236}">
                <a16:creationId xmlns:a16="http://schemas.microsoft.com/office/drawing/2014/main" id="{20849FCD-AD7A-48BC-9786-C886C2624EF6}"/>
              </a:ext>
            </a:extLst>
          </p:cNvPr>
          <p:cNvPicPr>
            <a:picLocks noGrp="1" noChangeAspect="1"/>
          </p:cNvPicPr>
          <p:nvPr>
            <p:ph type="pic" sz="quarter" idx="13"/>
          </p:nvPr>
        </p:nvPicPr>
        <p:blipFill>
          <a:blip r:embed="rId3"/>
          <a:srcRect l="33562" r="16109"/>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C46A0B85-9659-2B1F-9A5D-CAB1D60B6C4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37669" y="2057400"/>
            <a:ext cx="6792069" cy="4162372"/>
          </a:xfrm>
        </p:spPr>
        <p:txBody>
          <a:bodyPr>
            <a:noAutofit/>
          </a:bodyPr>
          <a:lstStyle/>
          <a:p>
            <a:pPr marL="0" indent="0">
              <a:lnSpc>
                <a:spcPct val="110000"/>
              </a:lnSpc>
              <a:spcBef>
                <a:spcPts val="2500"/>
              </a:spcBef>
              <a:buFont typeface="Arial" panose="020B0604020202020204" pitchFamily="34" charset="0"/>
              <a:buNone/>
            </a:pPr>
            <a:r>
              <a:rPr lang="en-US" sz="1600" b="1" dirty="0"/>
              <a:t>Linear Models</a:t>
            </a:r>
          </a:p>
          <a:p>
            <a:pPr marL="0" lvl="1" indent="0">
              <a:lnSpc>
                <a:spcPct val="110000"/>
              </a:lnSpc>
              <a:buFont typeface="Arial" panose="020B0604020202020204" pitchFamily="34" charset="0"/>
              <a:buNone/>
            </a:pPr>
            <a:r>
              <a:rPr sz="1600" dirty="0"/>
              <a:t>Linear models like logistic regression and linear SVM use simple, interpretable linear decision boundaries for straightforward data patterns.</a:t>
            </a:r>
            <a:endParaRPr lang="en-US" sz="1600" dirty="0"/>
          </a:p>
          <a:p>
            <a:pPr marL="0" indent="0">
              <a:lnSpc>
                <a:spcPct val="110000"/>
              </a:lnSpc>
              <a:spcBef>
                <a:spcPts val="2500"/>
              </a:spcBef>
              <a:buFont typeface="Arial" panose="020B0604020202020204" pitchFamily="34" charset="0"/>
              <a:buNone/>
            </a:pPr>
            <a:r>
              <a:rPr lang="en-US" sz="1600" b="1" dirty="0"/>
              <a:t>Kernelized SVMs</a:t>
            </a:r>
          </a:p>
          <a:p>
            <a:pPr marL="0" lvl="1" indent="0">
              <a:lnSpc>
                <a:spcPct val="110000"/>
              </a:lnSpc>
              <a:buFont typeface="Arial" panose="020B0604020202020204" pitchFamily="34" charset="0"/>
              <a:buNone/>
            </a:pPr>
            <a:r>
              <a:rPr sz="1600" dirty="0"/>
              <a:t>Kernelized SVMs handle nonlinear data structures using flexible transformations, resembling exotic fish with agile movement.</a:t>
            </a:r>
            <a:endParaRPr lang="en-US" sz="1600" dirty="0"/>
          </a:p>
          <a:p>
            <a:pPr marL="0" indent="0">
              <a:lnSpc>
                <a:spcPct val="110000"/>
              </a:lnSpc>
              <a:spcBef>
                <a:spcPts val="2500"/>
              </a:spcBef>
              <a:buFont typeface="Arial" panose="020B0604020202020204" pitchFamily="34" charset="0"/>
              <a:buNone/>
            </a:pPr>
            <a:r>
              <a:rPr lang="en-US" sz="1600" b="1" dirty="0"/>
              <a:t>Tree-Based Ensembles</a:t>
            </a:r>
          </a:p>
          <a:p>
            <a:pPr marL="0" lvl="1" indent="0">
              <a:lnSpc>
                <a:spcPct val="110000"/>
              </a:lnSpc>
              <a:buFont typeface="Arial" panose="020B0604020202020204" pitchFamily="34" charset="0"/>
              <a:buNone/>
            </a:pPr>
            <a:r>
              <a:rPr sz="1600" dirty="0"/>
              <a:t>Tree-based ensemble models combine decisions like schools of fish working together to navigate complex environments robustly.</a:t>
            </a:r>
            <a:endParaRPr lang="en-US" sz="1600" dirty="0"/>
          </a:p>
          <a:p>
            <a:pPr marL="0" indent="0">
              <a:lnSpc>
                <a:spcPct val="110000"/>
              </a:lnSpc>
              <a:spcBef>
                <a:spcPts val="2500"/>
              </a:spcBef>
              <a:buFont typeface="Arial" panose="020B0604020202020204" pitchFamily="34" charset="0"/>
              <a:buNone/>
            </a:pPr>
            <a:r>
              <a:rPr lang="en-US" sz="1600" b="1" dirty="0"/>
              <a:t>Discriminant Analysis Models</a:t>
            </a:r>
          </a:p>
          <a:p>
            <a:pPr marL="0" lvl="1" indent="0">
              <a:lnSpc>
                <a:spcPct val="110000"/>
              </a:lnSpc>
              <a:buFont typeface="Arial" panose="020B0604020202020204" pitchFamily="34" charset="0"/>
              <a:buNone/>
            </a:pPr>
            <a:r>
              <a:rPr sz="1600" dirty="0"/>
              <a:t>Discriminant analysis models infer structure using probabilistic intuition, like species adapted to anticipate and react to surroundings.</a:t>
            </a:r>
            <a:endParaRPr lang="en-US" sz="1600" dirty="0"/>
          </a:p>
        </p:txBody>
      </p:sp>
    </p:spTree>
    <p:extLst>
      <p:ext uri="{BB962C8B-B14F-4D97-AF65-F5344CB8AC3E}">
        <p14:creationId xmlns:p14="http://schemas.microsoft.com/office/powerpoint/2010/main" val="3654200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8E5E4-5281-1998-FA40-85EAAD7C4C95}"/>
              </a:ext>
            </a:extLst>
          </p:cNvPr>
          <p:cNvSpPr>
            <a:spLocks noGrp="1"/>
          </p:cNvSpPr>
          <p:nvPr>
            <p:ph type="title"/>
          </p:nvPr>
        </p:nvSpPr>
        <p:spPr>
          <a:xfrm>
            <a:off x="4977971" y="691866"/>
            <a:ext cx="6680630" cy="1217337"/>
          </a:xfrm>
        </p:spPr>
        <p:txBody>
          <a:bodyPr anchor="t">
            <a:normAutofit/>
          </a:bodyPr>
          <a:lstStyle/>
          <a:p>
            <a:r>
              <a:rPr lang="en-US" dirty="0"/>
              <a:t>Training the Data</a:t>
            </a: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01F80470-7684-4428-83FE-18A46EFCC606}"/>
              </a:ext>
            </a:extLst>
          </p:cNvPr>
          <p:cNvPicPr>
            <a:picLocks noGrp="1" noChangeAspect="1"/>
          </p:cNvPicPr>
          <p:nvPr>
            <p:ph type="pic" sz="quarter" idx="13"/>
          </p:nvPr>
        </p:nvPicPr>
        <p:blipFill>
          <a:blip r:embed="rId3"/>
          <a:srcRect l="20795" r="34573" b="2"/>
          <a:stretch>
            <a:fillRect/>
          </a:stretch>
        </p:blipFill>
        <p:spPr>
          <a:xfrm>
            <a:off x="533400" y="533400"/>
            <a:ext cx="3886200" cy="5811924"/>
          </a:xfrm>
        </p:spPr>
      </p:pic>
      <p:sp>
        <p:nvSpPr>
          <p:cNvPr id="4" name="Content Placeholder 3">
            <a:extLst>
              <a:ext uri="{FF2B5EF4-FFF2-40B4-BE49-F238E27FC236}">
                <a16:creationId xmlns:a16="http://schemas.microsoft.com/office/drawing/2014/main" id="{8DD7FCDD-AC95-ABFA-718C-24E15654117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77971" y="2010699"/>
            <a:ext cx="6680630" cy="4313902"/>
          </a:xfrm>
        </p:spPr>
        <p:txBody>
          <a:bodyPr>
            <a:normAutofit/>
          </a:bodyPr>
          <a:lstStyle/>
          <a:p>
            <a:pPr marL="0" indent="0">
              <a:lnSpc>
                <a:spcPct val="110000"/>
              </a:lnSpc>
              <a:spcBef>
                <a:spcPts val="2500"/>
              </a:spcBef>
              <a:buFont typeface="Arial" panose="020B0604020202020204" pitchFamily="34" charset="0"/>
              <a:buNone/>
            </a:pPr>
            <a:r>
              <a:rPr lang="en-US" sz="1800" b="1" dirty="0"/>
              <a:t>Cross-Validation Technique</a:t>
            </a:r>
          </a:p>
          <a:p>
            <a:pPr marL="0" lvl="1" indent="0">
              <a:lnSpc>
                <a:spcPct val="110000"/>
              </a:lnSpc>
              <a:buFont typeface="Arial" panose="020B0604020202020204" pitchFamily="34" charset="0"/>
              <a:buNone/>
            </a:pPr>
            <a:r>
              <a:rPr sz="1800" dirty="0"/>
              <a:t>5-fold cross-validation splits data into five parts to train and evaluate models, enhancing generalization and reducing overfitting.</a:t>
            </a:r>
            <a:endParaRPr lang="en-US" sz="1800" dirty="0"/>
          </a:p>
          <a:p>
            <a:pPr marL="0" indent="0">
              <a:lnSpc>
                <a:spcPct val="110000"/>
              </a:lnSpc>
              <a:spcBef>
                <a:spcPts val="2500"/>
              </a:spcBef>
              <a:buFont typeface="Arial" panose="020B0604020202020204" pitchFamily="34" charset="0"/>
              <a:buNone/>
            </a:pPr>
            <a:r>
              <a:rPr lang="en-US" sz="1800" b="1" dirty="0"/>
              <a:t>Hyperparameter Optimization</a:t>
            </a:r>
          </a:p>
          <a:p>
            <a:pPr marL="0" lvl="1" indent="0">
              <a:lnSpc>
                <a:spcPct val="110000"/>
              </a:lnSpc>
              <a:buFont typeface="Arial" panose="020B0604020202020204" pitchFamily="34" charset="0"/>
              <a:buNone/>
            </a:pPr>
            <a:r>
              <a:rPr sz="1800" dirty="0" err="1"/>
              <a:t>GridSearchCV</a:t>
            </a:r>
            <a:r>
              <a:rPr sz="1800" dirty="0"/>
              <a:t> explores hyperparameter combinations to optimize model performance</a:t>
            </a:r>
            <a:endParaRPr lang="en-US" sz="1800" dirty="0"/>
          </a:p>
          <a:p>
            <a:pPr marL="0" indent="0">
              <a:lnSpc>
                <a:spcPct val="110000"/>
              </a:lnSpc>
              <a:spcBef>
                <a:spcPts val="2500"/>
              </a:spcBef>
              <a:buFont typeface="Arial" panose="020B0604020202020204" pitchFamily="34" charset="0"/>
              <a:buNone/>
            </a:pPr>
            <a:r>
              <a:rPr lang="en-US" sz="1800" b="1" dirty="0"/>
              <a:t>Model Evaluation Metrics</a:t>
            </a:r>
          </a:p>
          <a:p>
            <a:pPr marL="0" lvl="1" indent="0">
              <a:lnSpc>
                <a:spcPct val="110000"/>
              </a:lnSpc>
              <a:buFont typeface="Arial" panose="020B0604020202020204" pitchFamily="34" charset="0"/>
              <a:buNone/>
            </a:pPr>
            <a:r>
              <a:rPr sz="1800" dirty="0"/>
              <a:t>Models were evaluated using metrics like accuracy, F1 score, and ROC-AUC to ensure balanced and fair performance comparison.</a:t>
            </a:r>
            <a:endParaRPr lang="en-US" sz="1800" dirty="0"/>
          </a:p>
        </p:txBody>
      </p:sp>
    </p:spTree>
    <p:extLst>
      <p:ext uri="{BB962C8B-B14F-4D97-AF65-F5344CB8AC3E}">
        <p14:creationId xmlns:p14="http://schemas.microsoft.com/office/powerpoint/2010/main" val="18584671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0CAEE-DA3B-2AA5-40B0-7C15B0C40459}"/>
              </a:ext>
            </a:extLst>
          </p:cNvPr>
          <p:cNvSpPr>
            <a:spLocks noGrp="1"/>
          </p:cNvSpPr>
          <p:nvPr>
            <p:ph type="title"/>
          </p:nvPr>
        </p:nvSpPr>
        <p:spPr>
          <a:xfrm>
            <a:off x="4848555" y="512011"/>
            <a:ext cx="6792069" cy="1259920"/>
          </a:xfrm>
        </p:spPr>
        <p:txBody>
          <a:bodyPr anchor="b">
            <a:normAutofit/>
          </a:bodyPr>
          <a:lstStyle/>
          <a:p>
            <a:r>
              <a:rPr lang="en-US" dirty="0"/>
              <a:t>Top Performing models</a:t>
            </a:r>
          </a:p>
        </p:txBody>
      </p:sp>
      <p:pic>
        <p:nvPicPr>
          <p:cNvPr id="5" name="Content Placeholder 4" descr="Stick Figures racing against each other in a swimming pool.">
            <a:extLst>
              <a:ext uri="{FF2B5EF4-FFF2-40B4-BE49-F238E27FC236}">
                <a16:creationId xmlns:a16="http://schemas.microsoft.com/office/drawing/2014/main" id="{AD695F06-E491-49EC-AB8D-2FE4B03650E3}"/>
              </a:ext>
            </a:extLst>
          </p:cNvPr>
          <p:cNvPicPr>
            <a:picLocks noGrp="1" noChangeAspect="1"/>
          </p:cNvPicPr>
          <p:nvPr>
            <p:ph type="pic" sz="quarter" idx="13"/>
          </p:nvPr>
        </p:nvPicPr>
        <p:blipFill>
          <a:blip r:embed="rId3"/>
          <a:srcRect l="11689" r="21206"/>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BBD5884F-5780-37CD-B5B9-2DE7A0A34C8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Top Model Accuracy</a:t>
            </a:r>
          </a:p>
          <a:p>
            <a:pPr marL="0" lvl="1" indent="0">
              <a:lnSpc>
                <a:spcPct val="110000"/>
              </a:lnSpc>
              <a:buFont typeface="Arial" panose="020B0604020202020204" pitchFamily="34" charset="0"/>
              <a:buNone/>
            </a:pPr>
            <a:r>
              <a:t>Random Forest and SVM-RBF achieved highest test accuracy near 83.4%, capturing complex nonlinear patterns effectively.</a:t>
            </a:r>
            <a:endParaRPr lang="en-US"/>
          </a:p>
          <a:p>
            <a:pPr marL="0" indent="0">
              <a:lnSpc>
                <a:spcPct val="110000"/>
              </a:lnSpc>
              <a:spcBef>
                <a:spcPts val="2500"/>
              </a:spcBef>
              <a:buFont typeface="Arial" panose="020B0604020202020204" pitchFamily="34" charset="0"/>
              <a:buNone/>
            </a:pPr>
            <a:r>
              <a:rPr lang="en-US" b="1"/>
              <a:t>Random Forest Strengths</a:t>
            </a:r>
          </a:p>
          <a:p>
            <a:pPr marL="0" lvl="1" indent="0">
              <a:lnSpc>
                <a:spcPct val="110000"/>
              </a:lnSpc>
              <a:buFont typeface="Arial" panose="020B0604020202020204" pitchFamily="34" charset="0"/>
              <a:buNone/>
            </a:pPr>
            <a:r>
              <a:t>Random Forest showed top ROC-AUC of 0.8814 and best F1-score, reducing variance through ensemble averaging.</a:t>
            </a:r>
            <a:endParaRPr lang="en-US"/>
          </a:p>
          <a:p>
            <a:pPr marL="0" indent="0">
              <a:lnSpc>
                <a:spcPct val="110000"/>
              </a:lnSpc>
              <a:spcBef>
                <a:spcPts val="2500"/>
              </a:spcBef>
              <a:buFont typeface="Arial" panose="020B0604020202020204" pitchFamily="34" charset="0"/>
              <a:buNone/>
            </a:pPr>
            <a:r>
              <a:rPr lang="en-US" b="1"/>
              <a:t>SVM-RBF Performance</a:t>
            </a:r>
          </a:p>
          <a:p>
            <a:pPr marL="0" lvl="1" indent="0">
              <a:lnSpc>
                <a:spcPct val="110000"/>
              </a:lnSpc>
              <a:buFont typeface="Arial" panose="020B0604020202020204" pitchFamily="34" charset="0"/>
              <a:buNone/>
            </a:pPr>
            <a:r>
              <a:t>SVM-RBF model delivered high precision and competitive F1 score, with slightly lower recall than Random Forest.</a:t>
            </a:r>
            <a:endParaRPr lang="en-US"/>
          </a:p>
          <a:p>
            <a:pPr marL="0" indent="0">
              <a:lnSpc>
                <a:spcPct val="110000"/>
              </a:lnSpc>
              <a:spcBef>
                <a:spcPts val="2500"/>
              </a:spcBef>
              <a:buFont typeface="Arial" panose="020B0604020202020204" pitchFamily="34" charset="0"/>
              <a:buNone/>
            </a:pPr>
            <a:r>
              <a:rPr lang="en-US" b="1"/>
              <a:t>Other Models Overview</a:t>
            </a:r>
          </a:p>
          <a:p>
            <a:pPr marL="0" lvl="1" indent="0">
              <a:lnSpc>
                <a:spcPct val="110000"/>
              </a:lnSpc>
              <a:buFont typeface="Arial" panose="020B0604020202020204" pitchFamily="34" charset="0"/>
              <a:buNone/>
            </a:pPr>
            <a:r>
              <a:t>Gradient Boosting, Bagging, Linear SVM, Logistic Regression, LDA, and QDA showed varied strengths across precision, recall, and interpretability.</a:t>
            </a:r>
            <a:endParaRPr lang="en-US"/>
          </a:p>
        </p:txBody>
      </p:sp>
    </p:spTree>
    <p:extLst>
      <p:ext uri="{BB962C8B-B14F-4D97-AF65-F5344CB8AC3E}">
        <p14:creationId xmlns:p14="http://schemas.microsoft.com/office/powerpoint/2010/main" val="11497942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E3536-BA0F-A3BB-8F60-5C3538A18505}"/>
              </a:ext>
            </a:extLst>
          </p:cNvPr>
          <p:cNvSpPr>
            <a:spLocks noGrp="1"/>
          </p:cNvSpPr>
          <p:nvPr>
            <p:ph type="title"/>
          </p:nvPr>
        </p:nvSpPr>
        <p:spPr>
          <a:xfrm>
            <a:off x="4848555" y="512011"/>
            <a:ext cx="6792069" cy="1259920"/>
          </a:xfrm>
        </p:spPr>
        <p:txBody>
          <a:bodyPr anchor="b">
            <a:normAutofit/>
          </a:bodyPr>
          <a:lstStyle/>
          <a:p>
            <a:r>
              <a:rPr lang="en-US" dirty="0"/>
              <a:t>Why Some models are better</a:t>
            </a:r>
          </a:p>
        </p:txBody>
      </p:sp>
      <p:pic>
        <p:nvPicPr>
          <p:cNvPr id="5" name="Content Placeholder 4" descr="Circuit Board Background - Computer, Data, Technology, Artificial Intelligence">
            <a:extLst>
              <a:ext uri="{FF2B5EF4-FFF2-40B4-BE49-F238E27FC236}">
                <a16:creationId xmlns:a16="http://schemas.microsoft.com/office/drawing/2014/main" id="{36557392-0046-4EE3-8949-8BE7BC0BA60D}"/>
              </a:ext>
            </a:extLst>
          </p:cNvPr>
          <p:cNvPicPr>
            <a:picLocks noGrp="1" noChangeAspect="1"/>
          </p:cNvPicPr>
          <p:nvPr>
            <p:ph type="pic" sz="quarter" idx="13"/>
          </p:nvPr>
        </p:nvPicPr>
        <p:blipFill>
          <a:blip r:embed="rId3"/>
          <a:srcRect l="26752" r="35502"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996E1066-3D83-2980-5545-B582215F48A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dirty="0"/>
              <a:t>Nonlinear Model Strengths</a:t>
            </a:r>
          </a:p>
          <a:p>
            <a:pPr marL="0" lvl="1" indent="0">
              <a:lnSpc>
                <a:spcPct val="110000"/>
              </a:lnSpc>
              <a:buFont typeface="Arial" panose="020B0604020202020204" pitchFamily="34" charset="0"/>
              <a:buNone/>
            </a:pPr>
            <a:r>
              <a:rPr dirty="0"/>
              <a:t>Models like Random Forest and RBF‑kernel SVM detect complex nonlinear patterns</a:t>
            </a:r>
            <a:r>
              <a:rPr lang="en-US" dirty="0"/>
              <a:t>.</a:t>
            </a:r>
          </a:p>
          <a:p>
            <a:pPr marL="0" lvl="1" indent="0">
              <a:lnSpc>
                <a:spcPct val="110000"/>
              </a:lnSpc>
              <a:buFont typeface="Arial" panose="020B0604020202020204" pitchFamily="34" charset="0"/>
              <a:buNone/>
            </a:pPr>
            <a:endParaRPr lang="en-US" b="1" dirty="0"/>
          </a:p>
          <a:p>
            <a:pPr marL="0" lvl="1" indent="0">
              <a:lnSpc>
                <a:spcPct val="110000"/>
              </a:lnSpc>
              <a:buFont typeface="Arial" panose="020B0604020202020204" pitchFamily="34" charset="0"/>
              <a:buNone/>
            </a:pPr>
            <a:r>
              <a:rPr lang="en-US" b="1" dirty="0"/>
              <a:t>Limitations of Gaussian Assumptions</a:t>
            </a:r>
          </a:p>
          <a:p>
            <a:pPr marL="0" lvl="1" indent="0">
              <a:lnSpc>
                <a:spcPct val="110000"/>
              </a:lnSpc>
              <a:buFont typeface="Arial" panose="020B0604020202020204" pitchFamily="34" charset="0"/>
              <a:buNone/>
            </a:pPr>
            <a:r>
              <a:rPr dirty="0"/>
              <a:t>QDA assumes Gaussian distributions, which can misinterpret data where structure diverges from these assumptions.</a:t>
            </a:r>
            <a:endParaRPr lang="en-US" dirty="0"/>
          </a:p>
          <a:p>
            <a:pPr marL="0" indent="0">
              <a:lnSpc>
                <a:spcPct val="110000"/>
              </a:lnSpc>
              <a:spcBef>
                <a:spcPts val="2500"/>
              </a:spcBef>
              <a:buFont typeface="Arial" panose="020B0604020202020204" pitchFamily="34" charset="0"/>
              <a:buNone/>
            </a:pPr>
            <a:r>
              <a:rPr lang="en-US" b="1" dirty="0"/>
              <a:t>Linear Models' Constraints</a:t>
            </a:r>
          </a:p>
          <a:p>
            <a:pPr marL="0" lvl="1" indent="0">
              <a:lnSpc>
                <a:spcPct val="110000"/>
              </a:lnSpc>
              <a:buFont typeface="Arial" panose="020B0604020202020204" pitchFamily="34" charset="0"/>
              <a:buNone/>
            </a:pPr>
            <a:r>
              <a:rPr dirty="0"/>
              <a:t>Linear SVM and logistic regression behave like fast but rigid swimmers, struggling with curved data patterns.</a:t>
            </a:r>
            <a:endParaRPr lang="en-US" dirty="0"/>
          </a:p>
          <a:p>
            <a:pPr marL="0" indent="0">
              <a:lnSpc>
                <a:spcPct val="110000"/>
              </a:lnSpc>
              <a:spcBef>
                <a:spcPts val="2500"/>
              </a:spcBef>
              <a:buFont typeface="Arial" panose="020B0604020202020204" pitchFamily="34" charset="0"/>
              <a:buNone/>
            </a:pPr>
            <a:r>
              <a:rPr lang="en-US" b="1" dirty="0"/>
              <a:t>Ensemble Methods and Collective Intelligence</a:t>
            </a:r>
          </a:p>
          <a:p>
            <a:pPr marL="0" lvl="1" indent="0">
              <a:lnSpc>
                <a:spcPct val="110000"/>
              </a:lnSpc>
              <a:buFont typeface="Arial" panose="020B0604020202020204" pitchFamily="34" charset="0"/>
              <a:buNone/>
            </a:pPr>
            <a:r>
              <a:rPr dirty="0"/>
              <a:t>Ensemble models combine strengths like schools of fish, reducing bias and variance via boosting and bagging.</a:t>
            </a:r>
            <a:endParaRPr lang="en-US" dirty="0"/>
          </a:p>
        </p:txBody>
      </p:sp>
    </p:spTree>
    <p:extLst>
      <p:ext uri="{BB962C8B-B14F-4D97-AF65-F5344CB8AC3E}">
        <p14:creationId xmlns:p14="http://schemas.microsoft.com/office/powerpoint/2010/main" val="10725668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1B5D1-3759-3302-E521-937CFB7DE386}"/>
              </a:ext>
            </a:extLst>
          </p:cNvPr>
          <p:cNvSpPr>
            <a:spLocks noGrp="1"/>
          </p:cNvSpPr>
          <p:nvPr>
            <p:ph type="title"/>
          </p:nvPr>
        </p:nvSpPr>
        <p:spPr>
          <a:xfrm>
            <a:off x="7007497" y="691868"/>
            <a:ext cx="4660247" cy="1439210"/>
          </a:xfrm>
        </p:spPr>
        <p:txBody>
          <a:bodyPr anchor="t">
            <a:normAutofit/>
          </a:bodyPr>
          <a:lstStyle/>
          <a:p>
            <a:r>
              <a:rPr lang="en-US" dirty="0"/>
              <a:t>Interpretability in the models</a:t>
            </a:r>
          </a:p>
        </p:txBody>
      </p:sp>
      <p:pic>
        <p:nvPicPr>
          <p:cNvPr id="5" name="Content Placeholder 4" descr="Coral reef in the Surin islands National Park in the Andaman Sea, Thailand.">
            <a:extLst>
              <a:ext uri="{FF2B5EF4-FFF2-40B4-BE49-F238E27FC236}">
                <a16:creationId xmlns:a16="http://schemas.microsoft.com/office/drawing/2014/main" id="{8FD8A608-5ECC-41B5-BF60-A590CC7F4CFC}"/>
              </a:ext>
            </a:extLst>
          </p:cNvPr>
          <p:cNvPicPr>
            <a:picLocks noGrp="1" noChangeAspect="1"/>
          </p:cNvPicPr>
          <p:nvPr>
            <p:ph type="pic" sz="quarter" idx="13"/>
          </p:nvPr>
        </p:nvPicPr>
        <p:blipFill>
          <a:blip r:embed="rId3"/>
          <a:srcRect l="11231" r="10686"/>
          <a:stretch>
            <a:fillRect/>
          </a:stretch>
        </p:blipFill>
        <p:spPr>
          <a:xfrm>
            <a:off x="533400" y="533399"/>
            <a:ext cx="6029286" cy="5791201"/>
          </a:xfrm>
        </p:spPr>
      </p:pic>
      <p:sp>
        <p:nvSpPr>
          <p:cNvPr id="4" name="Content Placeholder 3">
            <a:extLst>
              <a:ext uri="{FF2B5EF4-FFF2-40B4-BE49-F238E27FC236}">
                <a16:creationId xmlns:a16="http://schemas.microsoft.com/office/drawing/2014/main" id="{DBFE9E2D-84FD-B709-8D89-09A40ECA2F3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07497" y="2211184"/>
            <a:ext cx="4660247" cy="4113415"/>
          </a:xfrm>
        </p:spPr>
        <p:txBody>
          <a:bodyPr>
            <a:normAutofit/>
          </a:bodyPr>
          <a:lstStyle/>
          <a:p>
            <a:pPr marL="0" indent="0">
              <a:spcBef>
                <a:spcPts val="2500"/>
              </a:spcBef>
              <a:buFont typeface="Arial" panose="020B0604020202020204" pitchFamily="34" charset="0"/>
              <a:buNone/>
            </a:pPr>
            <a:r>
              <a:rPr lang="en-US" b="1" dirty="0"/>
              <a:t>Transparent Linear Models</a:t>
            </a:r>
          </a:p>
          <a:p>
            <a:pPr marL="0" lvl="1" indent="0">
              <a:buFont typeface="Arial" panose="020B0604020202020204" pitchFamily="34" charset="0"/>
              <a:buNone/>
            </a:pPr>
            <a:r>
              <a:rPr dirty="0"/>
              <a:t>Linear models like logistic regression offer high interpretability with easily understood coefficients.</a:t>
            </a:r>
            <a:endParaRPr lang="en-US" dirty="0"/>
          </a:p>
          <a:p>
            <a:pPr marL="0" indent="0">
              <a:spcBef>
                <a:spcPts val="2500"/>
              </a:spcBef>
              <a:buFont typeface="Arial" panose="020B0604020202020204" pitchFamily="34" charset="0"/>
              <a:buNone/>
            </a:pPr>
            <a:r>
              <a:rPr lang="en-US" b="1" dirty="0"/>
              <a:t>Complex Nonlinear Models</a:t>
            </a:r>
          </a:p>
          <a:p>
            <a:pPr marL="0" lvl="1" indent="0">
              <a:buFont typeface="Arial" panose="020B0604020202020204" pitchFamily="34" charset="0"/>
              <a:buNone/>
            </a:pPr>
            <a:r>
              <a:rPr dirty="0"/>
              <a:t>Random Forests and Gradient Boosting work in complex</a:t>
            </a:r>
            <a:r>
              <a:rPr lang="en-US" dirty="0"/>
              <a:t> situations</a:t>
            </a:r>
            <a:r>
              <a:rPr dirty="0"/>
              <a:t> with limited interpretability.</a:t>
            </a:r>
            <a:endParaRPr lang="en-US" dirty="0"/>
          </a:p>
          <a:p>
            <a:pPr marL="0" indent="0">
              <a:spcBef>
                <a:spcPts val="2500"/>
              </a:spcBef>
              <a:buFont typeface="Arial" panose="020B0604020202020204" pitchFamily="34" charset="0"/>
              <a:buNone/>
            </a:pPr>
            <a:r>
              <a:rPr lang="en-US" b="1" dirty="0"/>
              <a:t>Tradeoff in Application</a:t>
            </a:r>
          </a:p>
          <a:p>
            <a:pPr marL="0" lvl="1" indent="0">
              <a:buFont typeface="Arial" panose="020B0604020202020204" pitchFamily="34" charset="0"/>
              <a:buNone/>
            </a:pPr>
            <a:r>
              <a:rPr dirty="0"/>
              <a:t>Model choice depends on priorities: interpretability for regulation or accuracy for performance.</a:t>
            </a:r>
            <a:endParaRPr lang="en-US" dirty="0"/>
          </a:p>
        </p:txBody>
      </p:sp>
    </p:spTree>
    <p:extLst>
      <p:ext uri="{BB962C8B-B14F-4D97-AF65-F5344CB8AC3E}">
        <p14:creationId xmlns:p14="http://schemas.microsoft.com/office/powerpoint/2010/main" val="20972963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E4D38-DABF-C723-EA97-A1D49FF67CDC}"/>
              </a:ext>
            </a:extLst>
          </p:cNvPr>
          <p:cNvSpPr>
            <a:spLocks noGrp="1"/>
          </p:cNvSpPr>
          <p:nvPr>
            <p:ph type="title"/>
          </p:nvPr>
        </p:nvSpPr>
        <p:spPr>
          <a:xfrm>
            <a:off x="4848555" y="512011"/>
            <a:ext cx="6792069" cy="1259920"/>
          </a:xfrm>
        </p:spPr>
        <p:txBody>
          <a:bodyPr anchor="b">
            <a:normAutofit/>
          </a:bodyPr>
          <a:lstStyle/>
          <a:p>
            <a:r>
              <a:rPr lang="en-US" dirty="0"/>
              <a:t>Final models</a:t>
            </a:r>
          </a:p>
        </p:txBody>
      </p:sp>
      <p:pic>
        <p:nvPicPr>
          <p:cNvPr id="5" name="Content Placeholder 4" descr="Large school of small fish underwater">
            <a:extLst>
              <a:ext uri="{FF2B5EF4-FFF2-40B4-BE49-F238E27FC236}">
                <a16:creationId xmlns:a16="http://schemas.microsoft.com/office/drawing/2014/main" id="{E8422812-EB31-4C93-B57C-4ECAF6B28BA3}"/>
              </a:ext>
            </a:extLst>
          </p:cNvPr>
          <p:cNvPicPr>
            <a:picLocks noGrp="1" noChangeAspect="1"/>
          </p:cNvPicPr>
          <p:nvPr>
            <p:ph type="pic" sz="quarter" idx="13"/>
          </p:nvPr>
        </p:nvPicPr>
        <p:blipFill>
          <a:blip r:embed="rId3"/>
          <a:srcRect l="55207"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B96DA061-B532-A598-277D-DD4145D9FD1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spcBef>
                <a:spcPts val="2500"/>
              </a:spcBef>
              <a:buFont typeface="Arial" panose="020B0604020202020204" pitchFamily="34" charset="0"/>
              <a:buNone/>
            </a:pPr>
            <a:r>
              <a:rPr lang="en-US" b="1"/>
              <a:t>Random Forest Strength</a:t>
            </a:r>
          </a:p>
          <a:p>
            <a:pPr marL="0" lvl="1" indent="0">
              <a:buFont typeface="Arial" panose="020B0604020202020204" pitchFamily="34" charset="0"/>
              <a:buNone/>
            </a:pPr>
            <a:r>
              <a:t>Random Forest is the strongest model balancing accuracy, F1 score, and ROC-AUC in predictive tasks.</a:t>
            </a:r>
            <a:endParaRPr lang="en-US"/>
          </a:p>
          <a:p>
            <a:pPr marL="0" indent="0">
              <a:spcBef>
                <a:spcPts val="2500"/>
              </a:spcBef>
              <a:buFont typeface="Arial" panose="020B0604020202020204" pitchFamily="34" charset="0"/>
              <a:buNone/>
            </a:pPr>
            <a:r>
              <a:rPr lang="en-US" b="1"/>
              <a:t>Model Diversity and Niches</a:t>
            </a:r>
          </a:p>
          <a:p>
            <a:pPr marL="0" lvl="1" indent="0">
              <a:buFont typeface="Arial" panose="020B0604020202020204" pitchFamily="34" charset="0"/>
              <a:buNone/>
            </a:pPr>
            <a:r>
              <a:t>No single model is best; each has unique strengths suited to specific data and tasks.</a:t>
            </a:r>
            <a:endParaRPr lang="en-US"/>
          </a:p>
          <a:p>
            <a:pPr marL="0" indent="0">
              <a:spcBef>
                <a:spcPts val="2500"/>
              </a:spcBef>
              <a:buFont typeface="Arial" panose="020B0604020202020204" pitchFamily="34" charset="0"/>
              <a:buNone/>
            </a:pPr>
            <a:r>
              <a:rPr lang="en-US" b="1"/>
              <a:t>Interpretability and Transparency</a:t>
            </a:r>
          </a:p>
          <a:p>
            <a:pPr marL="0" lvl="1" indent="0">
              <a:buFont typeface="Arial" panose="020B0604020202020204" pitchFamily="34" charset="0"/>
              <a:buNone/>
            </a:pPr>
            <a:r>
              <a:t>Linear models offer clear interpretability essential for transparency and regulatory needs.</a:t>
            </a:r>
            <a:endParaRPr lang="en-US"/>
          </a:p>
          <a:p>
            <a:pPr marL="0" indent="0">
              <a:spcBef>
                <a:spcPts val="2500"/>
              </a:spcBef>
              <a:buFont typeface="Arial" panose="020B0604020202020204" pitchFamily="34" charset="0"/>
              <a:buNone/>
            </a:pPr>
            <a:r>
              <a:rPr lang="en-US" b="1"/>
              <a:t>Multidimensional Model Selection</a:t>
            </a:r>
          </a:p>
          <a:p>
            <a:pPr marL="0" lvl="1" indent="0">
              <a:buFont typeface="Arial" panose="020B0604020202020204" pitchFamily="34" charset="0"/>
              <a:buNone/>
            </a:pPr>
            <a:r>
              <a:t>Selecting models requires balancing accuracy, interpretability, cost, and robustness considerations.</a:t>
            </a:r>
            <a:endParaRPr lang="en-US"/>
          </a:p>
        </p:txBody>
      </p:sp>
    </p:spTree>
    <p:extLst>
      <p:ext uri="{BB962C8B-B14F-4D97-AF65-F5344CB8AC3E}">
        <p14:creationId xmlns:p14="http://schemas.microsoft.com/office/powerpoint/2010/main" val="25994843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7D0D7-1C3A-3F0A-E8E7-CA375BEC19C6}"/>
              </a:ext>
            </a:extLst>
          </p:cNvPr>
          <p:cNvSpPr>
            <a:spLocks noGrp="1"/>
          </p:cNvSpPr>
          <p:nvPr>
            <p:ph type="title"/>
          </p:nvPr>
        </p:nvSpPr>
        <p:spPr>
          <a:xfrm>
            <a:off x="419559" y="691867"/>
            <a:ext cx="6664559" cy="1217340"/>
          </a:xfrm>
        </p:spPr>
        <p:txBody>
          <a:bodyPr anchor="t">
            <a:normAutofit/>
          </a:bodyPr>
          <a:lstStyle/>
          <a:p>
            <a:r>
              <a:rPr lang="en-US" dirty="0"/>
              <a:t>Thanks for listening</a:t>
            </a:r>
          </a:p>
        </p:txBody>
      </p:sp>
      <p:sp>
        <p:nvSpPr>
          <p:cNvPr id="4" name="Content Placeholder 3">
            <a:extLst>
              <a:ext uri="{FF2B5EF4-FFF2-40B4-BE49-F238E27FC236}">
                <a16:creationId xmlns:a16="http://schemas.microsoft.com/office/drawing/2014/main" id="{5C22FCB3-3374-AF64-8E77-2A19CF2ED2B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2217" y="2010699"/>
            <a:ext cx="6661902" cy="4330851"/>
          </a:xfrm>
        </p:spPr>
        <p:txBody>
          <a:bodyPr vert="horz" lIns="91440" tIns="45720" rIns="91440" bIns="45720" rtlCol="0" anchor="t">
            <a:normAutofit/>
          </a:bodyPr>
          <a:lstStyle/>
          <a:p>
            <a:pPr marL="0" indent="0">
              <a:lnSpc>
                <a:spcPct val="110000"/>
              </a:lnSpc>
              <a:spcBef>
                <a:spcPts val="2500"/>
              </a:spcBef>
              <a:buFont typeface="Arial" panose="020B0604020202020204" pitchFamily="34" charset="0"/>
              <a:buNone/>
            </a:pPr>
            <a:r>
              <a:rPr lang="en-US" b="1" dirty="0"/>
              <a:t>Titanic Survival Analysis</a:t>
            </a:r>
            <a:endParaRPr lang="en-US" dirty="0"/>
          </a:p>
          <a:p>
            <a:pPr marL="0" lvl="1" indent="0">
              <a:lnSpc>
                <a:spcPct val="110000"/>
              </a:lnSpc>
              <a:buFont typeface="Arial" panose="020B0604020202020204" pitchFamily="34" charset="0"/>
              <a:buNone/>
            </a:pPr>
            <a:r>
              <a:rPr dirty="0"/>
              <a:t>Using Titanic survival prediction as an example to show how machine learning reveals human behavior patterns.</a:t>
            </a:r>
            <a:endParaRPr lang="en-US" dirty="0"/>
          </a:p>
          <a:p>
            <a:pPr marL="0" indent="0">
              <a:lnSpc>
                <a:spcPct val="110000"/>
              </a:lnSpc>
              <a:spcBef>
                <a:spcPts val="2500"/>
              </a:spcBef>
              <a:buFont typeface="Arial" panose="020B0604020202020204" pitchFamily="34" charset="0"/>
              <a:buNone/>
            </a:pPr>
            <a:r>
              <a:rPr lang="en-US" b="1" dirty="0"/>
              <a:t>Interpretability and Applicability</a:t>
            </a:r>
          </a:p>
          <a:p>
            <a:pPr marL="0" lvl="1" indent="0">
              <a:lnSpc>
                <a:spcPct val="110000"/>
              </a:lnSpc>
              <a:buFont typeface="Arial" panose="020B0604020202020204" pitchFamily="34" charset="0"/>
              <a:buNone/>
            </a:pPr>
            <a:r>
              <a:rPr dirty="0"/>
              <a:t>Emphasizes the importance of interpretability, complexity, and real-world relevance in model selection and evaluation.</a:t>
            </a:r>
            <a:endParaRPr lang="en-US" dirty="0"/>
          </a:p>
        </p:txBody>
      </p:sp>
      <p:pic>
        <p:nvPicPr>
          <p:cNvPr id="5" name="Content Placeholder 4" descr="Leadership Concept">
            <a:extLst>
              <a:ext uri="{FF2B5EF4-FFF2-40B4-BE49-F238E27FC236}">
                <a16:creationId xmlns:a16="http://schemas.microsoft.com/office/drawing/2014/main" id="{C9FBC112-A832-4621-8960-2CDB5A7C742F}"/>
              </a:ext>
            </a:extLst>
          </p:cNvPr>
          <p:cNvPicPr>
            <a:picLocks noGrp="1" noChangeAspect="1"/>
          </p:cNvPicPr>
          <p:nvPr>
            <p:ph type="pic" sz="quarter" idx="13"/>
          </p:nvPr>
        </p:nvPicPr>
        <p:blipFill>
          <a:blip r:embed="rId3"/>
          <a:srcRect l="19967" r="33484" b="1"/>
          <a:stretch>
            <a:fillRect/>
          </a:stretch>
        </p:blipFill>
        <p:spPr>
          <a:xfrm>
            <a:off x="7620000" y="533400"/>
            <a:ext cx="4038600" cy="5791200"/>
          </a:xfrm>
        </p:spPr>
      </p:pic>
    </p:spTree>
    <p:extLst>
      <p:ext uri="{BB962C8B-B14F-4D97-AF65-F5344CB8AC3E}">
        <p14:creationId xmlns:p14="http://schemas.microsoft.com/office/powerpoint/2010/main" val="13133852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DFC564-B38B-4437-B10C-2B4F696FB123}">
  <ds:schemaRefs>
    <ds:schemaRef ds:uri="http://schemas.microsoft.com/sharepoint/v3/contenttype/forms"/>
  </ds:schemaRefs>
</ds:datastoreItem>
</file>

<file path=customXml/itemProps2.xml><?xml version="1.0" encoding="utf-8"?>
<ds:datastoreItem xmlns:ds="http://schemas.openxmlformats.org/officeDocument/2006/customXml" ds:itemID="{68251039-0B1C-45AD-BDF3-E784F1E00F4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2EA6ECCF-1C9D-4352-BA6F-7912216595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Lines</Template>
  <TotalTime>23</TotalTime>
  <Words>2878</Words>
  <Application>Microsoft Office PowerPoint</Application>
  <PresentationFormat>Widescreen</PresentationFormat>
  <Paragraphs>93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Nova Light</vt:lpstr>
      <vt:lpstr>Calibri</vt:lpstr>
      <vt:lpstr>Univers Condensed</vt:lpstr>
      <vt:lpstr>Lines</vt:lpstr>
      <vt:lpstr>Who is going to swim with the fish? </vt:lpstr>
      <vt:lpstr>The Problem</vt:lpstr>
      <vt:lpstr>Exploring the Data</vt:lpstr>
      <vt:lpstr>Models</vt:lpstr>
      <vt:lpstr>Training the Data</vt:lpstr>
      <vt:lpstr>Top Performing models</vt:lpstr>
      <vt:lpstr>Why Some models are better</vt:lpstr>
      <vt:lpstr>Interpretability in the models</vt:lpstr>
      <vt:lpstr>Final models</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abausti2@student.ubc.ca</cp:lastModifiedBy>
  <cp:revision>118</cp:revision>
  <dcterms:created xsi:type="dcterms:W3CDTF">2025-08-04T19:15:43Z</dcterms:created>
  <dcterms:modified xsi:type="dcterms:W3CDTF">2026-02-03T06:16:05Z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